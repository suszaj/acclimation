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05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311" autoAdjust="0"/>
    <p:restoredTop sz="94632"/>
  </p:normalViewPr>
  <p:slideViewPr>
    <p:cSldViewPr snapToGrid="0">
      <p:cViewPr>
        <p:scale>
          <a:sx n="33" d="100"/>
          <a:sy n="33" d="100"/>
        </p:scale>
        <p:origin x="-76" y="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GB"/>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3F010B7-0EDE-024E-BBC9-C9385D04BAB9}" type="datetimeFigureOut">
              <a:rPr lang="en-GB" smtClean="0"/>
              <a:t>08/12/2024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98435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010B7-0EDE-024E-BBC9-C9385D04BAB9}" type="datetimeFigureOut">
              <a:rPr lang="en-GB" smtClean="0"/>
              <a:t>08/12/2024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1999502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GB"/>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3F010B7-0EDE-024E-BBC9-C9385D04BAB9}" type="datetimeFigureOut">
              <a:rPr lang="en-GB" smtClean="0"/>
              <a:t>08/12/2024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47660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3F010B7-0EDE-024E-BBC9-C9385D04BAB9}" type="datetimeFigureOut">
              <a:rPr lang="en-GB" smtClean="0"/>
              <a:t>08/12/2024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2301099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GB"/>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3F010B7-0EDE-024E-BBC9-C9385D04BAB9}" type="datetimeFigureOut">
              <a:rPr lang="en-GB" smtClean="0"/>
              <a:t>08/12/2024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2529884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3F010B7-0EDE-024E-BBC9-C9385D04BAB9}" type="datetimeFigureOut">
              <a:rPr lang="en-GB" smtClean="0"/>
              <a:t>08/12/2024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1057277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F010B7-0EDE-024E-BBC9-C9385D04BAB9}" type="datetimeFigureOut">
              <a:rPr lang="en-GB" smtClean="0"/>
              <a:t>08/12/2024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289816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D3F010B7-0EDE-024E-BBC9-C9385D04BAB9}" type="datetimeFigureOut">
              <a:rPr lang="en-GB" smtClean="0"/>
              <a:t>08/12/2024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385152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GB"/>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D3F010B7-0EDE-024E-BBC9-C9385D04BAB9}" type="datetimeFigureOut">
              <a:rPr lang="en-GB" smtClean="0"/>
              <a:t>08/12/2024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2342060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010B7-0EDE-024E-BBC9-C9385D04BAB9}" type="datetimeFigureOut">
              <a:rPr lang="en-GB" smtClean="0"/>
              <a:t>08/12/2024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30163266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010B7-0EDE-024E-BBC9-C9385D04BAB9}" type="datetimeFigureOut">
              <a:rPr lang="en-GB" smtClean="0"/>
              <a:t>08/12/2024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AEEBE98-4053-FB42-96E7-E1FE821ED03E}" type="slidenum">
              <a:rPr lang="en-GB" smtClean="0"/>
              <a:t>‹#›</a:t>
            </a:fld>
            <a:endParaRPr lang="en-GB"/>
          </a:p>
        </p:txBody>
      </p:sp>
    </p:spTree>
    <p:extLst>
      <p:ext uri="{BB962C8B-B14F-4D97-AF65-F5344CB8AC3E}">
        <p14:creationId xmlns:p14="http://schemas.microsoft.com/office/powerpoint/2010/main" val="2823290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D3F010B7-0EDE-024E-BBC9-C9385D04BAB9}" type="datetimeFigureOut">
              <a:rPr lang="en-GB" smtClean="0"/>
              <a:t>08/12/2024</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CAEEBE98-4053-FB42-96E7-E1FE821ED03E}" type="slidenum">
              <a:rPr lang="en-GB" smtClean="0"/>
              <a:t>‹#›</a:t>
            </a:fld>
            <a:endParaRPr lang="en-GB"/>
          </a:p>
        </p:txBody>
      </p:sp>
    </p:spTree>
    <p:extLst>
      <p:ext uri="{BB962C8B-B14F-4D97-AF65-F5344CB8AC3E}">
        <p14:creationId xmlns:p14="http://schemas.microsoft.com/office/powerpoint/2010/main" val="27781033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jpeg"/><Relationship Id="rId3" Type="http://schemas.openxmlformats.org/officeDocument/2006/relationships/image" Target="../media/image2.emf"/><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5" Type="http://schemas.openxmlformats.org/officeDocument/2006/relationships/image" Target="../media/image14.svg"/><Relationship Id="rId10" Type="http://schemas.openxmlformats.org/officeDocument/2006/relationships/image" Target="../media/image9.jpeg"/><Relationship Id="rId4" Type="http://schemas.openxmlformats.org/officeDocument/2006/relationships/image" Target="../media/image3.emf"/><Relationship Id="rId9" Type="http://schemas.openxmlformats.org/officeDocument/2006/relationships/image" Target="../media/image8.jpe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75">
            <a:extLst>
              <a:ext uri="{FF2B5EF4-FFF2-40B4-BE49-F238E27FC236}">
                <a16:creationId xmlns:a16="http://schemas.microsoft.com/office/drawing/2014/main" id="{0F492B6B-719B-0069-7626-ED17E2704893}"/>
              </a:ext>
            </a:extLst>
          </p:cNvPr>
          <p:cNvPicPr>
            <a:picLocks noChangeAspect="1"/>
          </p:cNvPicPr>
          <p:nvPr/>
        </p:nvPicPr>
        <p:blipFill>
          <a:blip r:embed="rId2"/>
          <a:stretch>
            <a:fillRect/>
          </a:stretch>
        </p:blipFill>
        <p:spPr>
          <a:xfrm>
            <a:off x="5019710" y="22901291"/>
            <a:ext cx="6410520" cy="8618292"/>
          </a:xfrm>
          <a:prstGeom prst="rect">
            <a:avLst/>
          </a:prstGeom>
        </p:spPr>
      </p:pic>
      <p:pic>
        <p:nvPicPr>
          <p:cNvPr id="78" name="Picture 77">
            <a:extLst>
              <a:ext uri="{FF2B5EF4-FFF2-40B4-BE49-F238E27FC236}">
                <a16:creationId xmlns:a16="http://schemas.microsoft.com/office/drawing/2014/main" id="{FE7AB8C8-E25D-743B-6EC8-FB2087C9A860}"/>
              </a:ext>
            </a:extLst>
          </p:cNvPr>
          <p:cNvPicPr>
            <a:picLocks noChangeAspect="1"/>
          </p:cNvPicPr>
          <p:nvPr/>
        </p:nvPicPr>
        <p:blipFill>
          <a:blip r:embed="rId3"/>
          <a:stretch>
            <a:fillRect/>
          </a:stretch>
        </p:blipFill>
        <p:spPr>
          <a:xfrm>
            <a:off x="11334897" y="22877226"/>
            <a:ext cx="8642357" cy="8642357"/>
          </a:xfrm>
          <a:prstGeom prst="rect">
            <a:avLst/>
          </a:prstGeom>
        </p:spPr>
      </p:pic>
      <p:pic>
        <p:nvPicPr>
          <p:cNvPr id="60" name="Picture 59">
            <a:extLst>
              <a:ext uri="{FF2B5EF4-FFF2-40B4-BE49-F238E27FC236}">
                <a16:creationId xmlns:a16="http://schemas.microsoft.com/office/drawing/2014/main" id="{721FE881-048C-B395-17DE-61017BFFAF40}"/>
              </a:ext>
            </a:extLst>
          </p:cNvPr>
          <p:cNvPicPr>
            <a:picLocks noChangeAspect="1"/>
          </p:cNvPicPr>
          <p:nvPr/>
        </p:nvPicPr>
        <p:blipFill>
          <a:blip r:embed="rId4"/>
          <a:stretch>
            <a:fillRect/>
          </a:stretch>
        </p:blipFill>
        <p:spPr>
          <a:xfrm>
            <a:off x="2299214" y="34474487"/>
            <a:ext cx="16809024" cy="6248485"/>
          </a:xfrm>
          <a:prstGeom prst="rect">
            <a:avLst/>
          </a:prstGeom>
        </p:spPr>
      </p:pic>
      <p:sp>
        <p:nvSpPr>
          <p:cNvPr id="50" name="Rounded Rectangle 49">
            <a:extLst>
              <a:ext uri="{FF2B5EF4-FFF2-40B4-BE49-F238E27FC236}">
                <a16:creationId xmlns:a16="http://schemas.microsoft.com/office/drawing/2014/main" id="{95D0E43C-E866-F01D-DC6A-E619DF9D5D40}"/>
              </a:ext>
            </a:extLst>
          </p:cNvPr>
          <p:cNvSpPr/>
          <p:nvPr/>
        </p:nvSpPr>
        <p:spPr>
          <a:xfrm>
            <a:off x="-477078" y="548638"/>
            <a:ext cx="23498698" cy="4677662"/>
          </a:xfrm>
          <a:prstGeom prst="roundRect">
            <a:avLst/>
          </a:prstGeom>
          <a:noFill/>
          <a:ln w="203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33DB644B-6950-2E8E-69E3-E6F677C4CA61}"/>
              </a:ext>
            </a:extLst>
          </p:cNvPr>
          <p:cNvSpPr txBox="1"/>
          <p:nvPr/>
        </p:nvSpPr>
        <p:spPr>
          <a:xfrm>
            <a:off x="456301" y="711892"/>
            <a:ext cx="23627329" cy="4339650"/>
          </a:xfrm>
          <a:prstGeom prst="rect">
            <a:avLst/>
          </a:prstGeom>
          <a:noFill/>
        </p:spPr>
        <p:txBody>
          <a:bodyPr wrap="square" rtlCol="0">
            <a:spAutoFit/>
          </a:bodyPr>
          <a:lstStyle/>
          <a:p>
            <a:r>
              <a:rPr lang="en-GB" sz="13800" b="1" dirty="0">
                <a:solidFill>
                  <a:srgbClr val="7F0503"/>
                </a:solidFill>
                <a:latin typeface="+mj-lt"/>
              </a:rPr>
              <a:t>ACCLIMATION IN FISH: </a:t>
            </a:r>
          </a:p>
          <a:p>
            <a:r>
              <a:rPr lang="en-GB" sz="13800" dirty="0">
                <a:solidFill>
                  <a:srgbClr val="7F0503"/>
                </a:solidFill>
                <a:latin typeface="+mj-lt"/>
              </a:rPr>
              <a:t>How long should your trials be?</a:t>
            </a:r>
          </a:p>
        </p:txBody>
      </p:sp>
      <p:pic>
        <p:nvPicPr>
          <p:cNvPr id="7" name="Picture 6">
            <a:extLst>
              <a:ext uri="{FF2B5EF4-FFF2-40B4-BE49-F238E27FC236}">
                <a16:creationId xmlns:a16="http://schemas.microsoft.com/office/drawing/2014/main" id="{4D140832-CDBB-235C-197A-DF6CCC1E6559}"/>
              </a:ext>
            </a:extLst>
          </p:cNvPr>
          <p:cNvPicPr>
            <a:picLocks noChangeAspect="1"/>
          </p:cNvPicPr>
          <p:nvPr/>
        </p:nvPicPr>
        <p:blipFill>
          <a:blip r:embed="rId5"/>
          <a:stretch>
            <a:fillRect/>
          </a:stretch>
        </p:blipFill>
        <p:spPr>
          <a:xfrm>
            <a:off x="22832682" y="270404"/>
            <a:ext cx="6388100" cy="3022600"/>
          </a:xfrm>
          <a:prstGeom prst="rect">
            <a:avLst/>
          </a:prstGeom>
        </p:spPr>
      </p:pic>
      <p:pic>
        <p:nvPicPr>
          <p:cNvPr id="9" name="Picture 8">
            <a:extLst>
              <a:ext uri="{FF2B5EF4-FFF2-40B4-BE49-F238E27FC236}">
                <a16:creationId xmlns:a16="http://schemas.microsoft.com/office/drawing/2014/main" id="{58762191-F8AF-9A5E-FED9-6A0E0307073E}"/>
              </a:ext>
            </a:extLst>
          </p:cNvPr>
          <p:cNvPicPr>
            <a:picLocks noChangeAspect="1"/>
          </p:cNvPicPr>
          <p:nvPr/>
        </p:nvPicPr>
        <p:blipFill>
          <a:blip r:embed="rId6"/>
          <a:stretch>
            <a:fillRect/>
          </a:stretch>
        </p:blipFill>
        <p:spPr>
          <a:xfrm>
            <a:off x="20942055" y="8416587"/>
            <a:ext cx="6311900" cy="2578100"/>
          </a:xfrm>
          <a:prstGeom prst="rect">
            <a:avLst/>
          </a:prstGeom>
        </p:spPr>
      </p:pic>
      <p:pic>
        <p:nvPicPr>
          <p:cNvPr id="11" name="Picture 10">
            <a:extLst>
              <a:ext uri="{FF2B5EF4-FFF2-40B4-BE49-F238E27FC236}">
                <a16:creationId xmlns:a16="http://schemas.microsoft.com/office/drawing/2014/main" id="{3409EEE5-AC52-39F0-61C8-4DD6C8784B43}"/>
              </a:ext>
            </a:extLst>
          </p:cNvPr>
          <p:cNvPicPr>
            <a:picLocks noChangeAspect="1"/>
          </p:cNvPicPr>
          <p:nvPr/>
        </p:nvPicPr>
        <p:blipFill>
          <a:blip r:embed="rId7"/>
          <a:stretch>
            <a:fillRect/>
          </a:stretch>
        </p:blipFill>
        <p:spPr>
          <a:xfrm>
            <a:off x="21969542" y="4615722"/>
            <a:ext cx="7721600" cy="2984500"/>
          </a:xfrm>
          <a:prstGeom prst="rect">
            <a:avLst/>
          </a:prstGeom>
        </p:spPr>
      </p:pic>
      <p:pic>
        <p:nvPicPr>
          <p:cNvPr id="13" name="Picture 12">
            <a:extLst>
              <a:ext uri="{FF2B5EF4-FFF2-40B4-BE49-F238E27FC236}">
                <a16:creationId xmlns:a16="http://schemas.microsoft.com/office/drawing/2014/main" id="{9B730C85-E477-D392-3C76-419CB6EEF0B9}"/>
              </a:ext>
            </a:extLst>
          </p:cNvPr>
          <p:cNvPicPr>
            <a:picLocks noChangeAspect="1"/>
          </p:cNvPicPr>
          <p:nvPr/>
        </p:nvPicPr>
        <p:blipFill>
          <a:blip r:embed="rId8"/>
          <a:stretch>
            <a:fillRect/>
          </a:stretch>
        </p:blipFill>
        <p:spPr>
          <a:xfrm>
            <a:off x="14178681" y="5177860"/>
            <a:ext cx="7683500" cy="3911600"/>
          </a:xfrm>
          <a:prstGeom prst="rect">
            <a:avLst/>
          </a:prstGeom>
        </p:spPr>
      </p:pic>
      <p:grpSp>
        <p:nvGrpSpPr>
          <p:cNvPr id="23" name="Group 22">
            <a:extLst>
              <a:ext uri="{FF2B5EF4-FFF2-40B4-BE49-F238E27FC236}">
                <a16:creationId xmlns:a16="http://schemas.microsoft.com/office/drawing/2014/main" id="{B4690C36-B7FA-8867-7C6E-8F175F36E8DE}"/>
              </a:ext>
            </a:extLst>
          </p:cNvPr>
          <p:cNvGrpSpPr/>
          <p:nvPr/>
        </p:nvGrpSpPr>
        <p:grpSpPr>
          <a:xfrm>
            <a:off x="20498447" y="19075832"/>
            <a:ext cx="9699179" cy="7101749"/>
            <a:chOff x="611643" y="9757051"/>
            <a:chExt cx="9699179" cy="7101749"/>
          </a:xfrm>
        </p:grpSpPr>
        <p:sp>
          <p:nvSpPr>
            <p:cNvPr id="14" name="Rounded Rectangle 13">
              <a:extLst>
                <a:ext uri="{FF2B5EF4-FFF2-40B4-BE49-F238E27FC236}">
                  <a16:creationId xmlns:a16="http://schemas.microsoft.com/office/drawing/2014/main" id="{8E9CE073-C829-9A4B-1FC0-7426D8970F18}"/>
                </a:ext>
              </a:extLst>
            </p:cNvPr>
            <p:cNvSpPr/>
            <p:nvPr/>
          </p:nvSpPr>
          <p:spPr>
            <a:xfrm>
              <a:off x="990600" y="10282157"/>
              <a:ext cx="8344168" cy="6576643"/>
            </a:xfrm>
            <a:prstGeom prst="roundRect">
              <a:avLst/>
            </a:prstGeom>
            <a:noFill/>
            <a:ln w="203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B847C43A-76BF-5967-1293-19AD638BDC8F}"/>
                </a:ext>
              </a:extLst>
            </p:cNvPr>
            <p:cNvSpPr/>
            <p:nvPr/>
          </p:nvSpPr>
          <p:spPr>
            <a:xfrm>
              <a:off x="611643" y="9757051"/>
              <a:ext cx="2511149" cy="2511149"/>
            </a:xfrm>
            <a:prstGeom prst="ellipse">
              <a:avLst/>
            </a:prstGeom>
            <a:solidFill>
              <a:srgbClr val="7F05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7D6A3D98-0B32-07ED-A7C4-DE037F13D64B}"/>
                </a:ext>
              </a:extLst>
            </p:cNvPr>
            <p:cNvSpPr txBox="1"/>
            <p:nvPr/>
          </p:nvSpPr>
          <p:spPr>
            <a:xfrm>
              <a:off x="850233" y="10282157"/>
              <a:ext cx="2021304" cy="1446550"/>
            </a:xfrm>
            <a:prstGeom prst="rect">
              <a:avLst/>
            </a:prstGeom>
            <a:noFill/>
          </p:spPr>
          <p:txBody>
            <a:bodyPr wrap="square" rtlCol="0">
              <a:spAutoFit/>
            </a:bodyPr>
            <a:lstStyle/>
            <a:p>
              <a:pPr algn="ctr"/>
              <a:r>
                <a:rPr lang="en-GB" sz="8800" dirty="0">
                  <a:solidFill>
                    <a:schemeClr val="bg1"/>
                  </a:solidFill>
                  <a:latin typeface="LEMON MILK" pitchFamily="2" charset="77"/>
                </a:rPr>
                <a:t>4</a:t>
              </a:r>
              <a:endParaRPr lang="en-GB" dirty="0">
                <a:solidFill>
                  <a:schemeClr val="bg1"/>
                </a:solidFill>
                <a:latin typeface="LEMON MILK" pitchFamily="2" charset="77"/>
              </a:endParaRPr>
            </a:p>
          </p:txBody>
        </p:sp>
        <p:sp>
          <p:nvSpPr>
            <p:cNvPr id="19" name="TextBox 18">
              <a:extLst>
                <a:ext uri="{FF2B5EF4-FFF2-40B4-BE49-F238E27FC236}">
                  <a16:creationId xmlns:a16="http://schemas.microsoft.com/office/drawing/2014/main" id="{A9641195-1F9F-7A38-7759-33EE45331166}"/>
                </a:ext>
              </a:extLst>
            </p:cNvPr>
            <p:cNvSpPr txBox="1"/>
            <p:nvPr/>
          </p:nvSpPr>
          <p:spPr>
            <a:xfrm>
              <a:off x="1229190" y="12421225"/>
              <a:ext cx="7777926" cy="3477875"/>
            </a:xfrm>
            <a:prstGeom prst="rect">
              <a:avLst/>
            </a:prstGeom>
            <a:noFill/>
          </p:spPr>
          <p:txBody>
            <a:bodyPr wrap="square">
              <a:spAutoFit/>
            </a:bodyPr>
            <a:lstStyle/>
            <a:p>
              <a:pPr algn="ctr"/>
              <a:r>
                <a:rPr lang="en-GB" sz="4400" b="1" dirty="0">
                  <a:solidFill>
                    <a:srgbClr val="C00000"/>
                  </a:solidFill>
                </a:rPr>
                <a:t>There is lots of variation in behaviour between species, and in indicators of acclimation. </a:t>
              </a:r>
              <a:r>
                <a:rPr lang="en-GB" sz="4400" dirty="0"/>
                <a:t>What works for one species may not be appropriate for another!</a:t>
              </a:r>
            </a:p>
          </p:txBody>
        </p:sp>
        <p:sp>
          <p:nvSpPr>
            <p:cNvPr id="20" name="TextBox 19">
              <a:extLst>
                <a:ext uri="{FF2B5EF4-FFF2-40B4-BE49-F238E27FC236}">
                  <a16:creationId xmlns:a16="http://schemas.microsoft.com/office/drawing/2014/main" id="{B5B1A351-F5E4-BBC5-BE6C-72543FEE7FD1}"/>
                </a:ext>
              </a:extLst>
            </p:cNvPr>
            <p:cNvSpPr txBox="1"/>
            <p:nvPr/>
          </p:nvSpPr>
          <p:spPr>
            <a:xfrm>
              <a:off x="3361382" y="10821857"/>
              <a:ext cx="6949440" cy="1015663"/>
            </a:xfrm>
            <a:prstGeom prst="rect">
              <a:avLst/>
            </a:prstGeom>
            <a:noFill/>
          </p:spPr>
          <p:txBody>
            <a:bodyPr wrap="square" rtlCol="0">
              <a:spAutoFit/>
            </a:bodyPr>
            <a:lstStyle/>
            <a:p>
              <a:r>
                <a:rPr lang="en-GB" sz="6000" dirty="0">
                  <a:solidFill>
                    <a:srgbClr val="7F0503"/>
                  </a:solidFill>
                  <a:latin typeface="LEMON MILK" pitchFamily="2" charset="77"/>
                </a:rPr>
                <a:t>Take-away</a:t>
              </a:r>
            </a:p>
          </p:txBody>
        </p:sp>
      </p:grpSp>
      <p:grpSp>
        <p:nvGrpSpPr>
          <p:cNvPr id="24" name="Group 23">
            <a:extLst>
              <a:ext uri="{FF2B5EF4-FFF2-40B4-BE49-F238E27FC236}">
                <a16:creationId xmlns:a16="http://schemas.microsoft.com/office/drawing/2014/main" id="{FB5B6131-64B4-5A3D-A541-A40367775363}"/>
              </a:ext>
            </a:extLst>
          </p:cNvPr>
          <p:cNvGrpSpPr/>
          <p:nvPr/>
        </p:nvGrpSpPr>
        <p:grpSpPr>
          <a:xfrm>
            <a:off x="764043" y="9909451"/>
            <a:ext cx="13839141" cy="7614951"/>
            <a:chOff x="611643" y="9757051"/>
            <a:chExt cx="13839141" cy="7614951"/>
          </a:xfrm>
        </p:grpSpPr>
        <p:sp>
          <p:nvSpPr>
            <p:cNvPr id="25" name="Rounded Rectangle 24">
              <a:extLst>
                <a:ext uri="{FF2B5EF4-FFF2-40B4-BE49-F238E27FC236}">
                  <a16:creationId xmlns:a16="http://schemas.microsoft.com/office/drawing/2014/main" id="{33032ED3-8C5F-5827-ACE5-6EB8DE83EB16}"/>
                </a:ext>
              </a:extLst>
            </p:cNvPr>
            <p:cNvSpPr/>
            <p:nvPr/>
          </p:nvSpPr>
          <p:spPr>
            <a:xfrm>
              <a:off x="990599" y="10282157"/>
              <a:ext cx="13460185" cy="7089845"/>
            </a:xfrm>
            <a:prstGeom prst="roundRect">
              <a:avLst/>
            </a:prstGeom>
            <a:noFill/>
            <a:ln w="203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Oval 25">
              <a:extLst>
                <a:ext uri="{FF2B5EF4-FFF2-40B4-BE49-F238E27FC236}">
                  <a16:creationId xmlns:a16="http://schemas.microsoft.com/office/drawing/2014/main" id="{D8DEC4C6-0AA8-F7E8-ED3A-7D8636D9E92A}"/>
                </a:ext>
              </a:extLst>
            </p:cNvPr>
            <p:cNvSpPr/>
            <p:nvPr/>
          </p:nvSpPr>
          <p:spPr>
            <a:xfrm>
              <a:off x="611643" y="9757051"/>
              <a:ext cx="2511149" cy="2511149"/>
            </a:xfrm>
            <a:prstGeom prst="ellipse">
              <a:avLst/>
            </a:prstGeom>
            <a:solidFill>
              <a:srgbClr val="7F05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1DAF6E0A-6668-6C0A-7D64-42686D9A5A95}"/>
                </a:ext>
              </a:extLst>
            </p:cNvPr>
            <p:cNvSpPr txBox="1"/>
            <p:nvPr/>
          </p:nvSpPr>
          <p:spPr>
            <a:xfrm>
              <a:off x="850233" y="10282157"/>
              <a:ext cx="2021304" cy="1446550"/>
            </a:xfrm>
            <a:prstGeom prst="rect">
              <a:avLst/>
            </a:prstGeom>
            <a:noFill/>
          </p:spPr>
          <p:txBody>
            <a:bodyPr wrap="square" rtlCol="0">
              <a:spAutoFit/>
            </a:bodyPr>
            <a:lstStyle/>
            <a:p>
              <a:pPr algn="ctr"/>
              <a:r>
                <a:rPr lang="en-GB" sz="8800" dirty="0">
                  <a:solidFill>
                    <a:schemeClr val="bg1"/>
                  </a:solidFill>
                  <a:latin typeface="LEMON MILK" pitchFamily="2" charset="77"/>
                </a:rPr>
                <a:t>1</a:t>
              </a:r>
              <a:endParaRPr lang="en-GB" dirty="0">
                <a:solidFill>
                  <a:schemeClr val="bg1"/>
                </a:solidFill>
                <a:latin typeface="LEMON MILK" pitchFamily="2" charset="77"/>
              </a:endParaRPr>
            </a:p>
          </p:txBody>
        </p:sp>
        <p:sp>
          <p:nvSpPr>
            <p:cNvPr id="28" name="TextBox 27">
              <a:extLst>
                <a:ext uri="{FF2B5EF4-FFF2-40B4-BE49-F238E27FC236}">
                  <a16:creationId xmlns:a16="http://schemas.microsoft.com/office/drawing/2014/main" id="{422FA168-77C6-3E7E-1BDC-C34A821EC8AF}"/>
                </a:ext>
              </a:extLst>
            </p:cNvPr>
            <p:cNvSpPr txBox="1"/>
            <p:nvPr/>
          </p:nvSpPr>
          <p:spPr>
            <a:xfrm>
              <a:off x="1793974" y="12432387"/>
              <a:ext cx="12133041" cy="4524315"/>
            </a:xfrm>
            <a:prstGeom prst="rect">
              <a:avLst/>
            </a:prstGeom>
            <a:noFill/>
          </p:spPr>
          <p:txBody>
            <a:bodyPr wrap="square">
              <a:spAutoFit/>
            </a:bodyPr>
            <a:lstStyle/>
            <a:p>
              <a:r>
                <a:rPr lang="en-GB" sz="3600" dirty="0"/>
                <a:t>For most behavioural and cognitive tests, individuals need to be habituated to the testing conditions before they start behaving normally. </a:t>
              </a:r>
              <a:r>
                <a:rPr lang="en-GB" sz="3600" dirty="0">
                  <a:solidFill>
                    <a:srgbClr val="C00000"/>
                  </a:solidFill>
                </a:rPr>
                <a:t>What is the optimal duration of acclimation trials, how long should you expect to wait before your chosen model species engages in assays?</a:t>
              </a:r>
            </a:p>
            <a:p>
              <a:endParaRPr lang="en-GB" sz="3600" dirty="0"/>
            </a:p>
            <a:p>
              <a:r>
                <a:rPr lang="en-GB" sz="3600" dirty="0"/>
                <a:t>There is lots of institutional knowledge, but not much published data to guide researchers in general or for individual species.</a:t>
              </a:r>
            </a:p>
          </p:txBody>
        </p:sp>
        <p:sp>
          <p:nvSpPr>
            <p:cNvPr id="29" name="TextBox 28">
              <a:extLst>
                <a:ext uri="{FF2B5EF4-FFF2-40B4-BE49-F238E27FC236}">
                  <a16:creationId xmlns:a16="http://schemas.microsoft.com/office/drawing/2014/main" id="{0070AA54-D780-AF35-698F-816EE87AB933}"/>
                </a:ext>
              </a:extLst>
            </p:cNvPr>
            <p:cNvSpPr txBox="1"/>
            <p:nvPr/>
          </p:nvSpPr>
          <p:spPr>
            <a:xfrm>
              <a:off x="3361382" y="10821857"/>
              <a:ext cx="6949440" cy="1015663"/>
            </a:xfrm>
            <a:prstGeom prst="rect">
              <a:avLst/>
            </a:prstGeom>
            <a:noFill/>
          </p:spPr>
          <p:txBody>
            <a:bodyPr wrap="square" rtlCol="0">
              <a:spAutoFit/>
            </a:bodyPr>
            <a:lstStyle/>
            <a:p>
              <a:r>
                <a:rPr lang="en-GB" sz="6000" dirty="0">
                  <a:solidFill>
                    <a:srgbClr val="7F0503"/>
                  </a:solidFill>
                  <a:latin typeface="LEMON MILK" pitchFamily="2" charset="77"/>
                </a:rPr>
                <a:t>BACKGROUND</a:t>
              </a:r>
            </a:p>
          </p:txBody>
        </p:sp>
      </p:grpSp>
      <p:grpSp>
        <p:nvGrpSpPr>
          <p:cNvPr id="30" name="Group 29">
            <a:extLst>
              <a:ext uri="{FF2B5EF4-FFF2-40B4-BE49-F238E27FC236}">
                <a16:creationId xmlns:a16="http://schemas.microsoft.com/office/drawing/2014/main" id="{441FA0DF-3121-EBE9-F0A0-C0F1E67BBDE7}"/>
              </a:ext>
            </a:extLst>
          </p:cNvPr>
          <p:cNvGrpSpPr/>
          <p:nvPr/>
        </p:nvGrpSpPr>
        <p:grpSpPr>
          <a:xfrm>
            <a:off x="1073120" y="17759834"/>
            <a:ext cx="19046371" cy="24331104"/>
            <a:chOff x="611643" y="9757051"/>
            <a:chExt cx="19046371" cy="24331104"/>
          </a:xfrm>
        </p:grpSpPr>
        <p:sp>
          <p:nvSpPr>
            <p:cNvPr id="31" name="Rounded Rectangle 30">
              <a:extLst>
                <a:ext uri="{FF2B5EF4-FFF2-40B4-BE49-F238E27FC236}">
                  <a16:creationId xmlns:a16="http://schemas.microsoft.com/office/drawing/2014/main" id="{3570E6E7-A11F-0AB4-92AC-0D8B1DB04028}"/>
                </a:ext>
              </a:extLst>
            </p:cNvPr>
            <p:cNvSpPr/>
            <p:nvPr/>
          </p:nvSpPr>
          <p:spPr>
            <a:xfrm>
              <a:off x="990599" y="10282156"/>
              <a:ext cx="18667415" cy="23805999"/>
            </a:xfrm>
            <a:prstGeom prst="roundRect">
              <a:avLst/>
            </a:prstGeom>
            <a:noFill/>
            <a:ln w="203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4E152BB0-9653-446B-1E17-3CFD90267774}"/>
                </a:ext>
              </a:extLst>
            </p:cNvPr>
            <p:cNvSpPr/>
            <p:nvPr/>
          </p:nvSpPr>
          <p:spPr>
            <a:xfrm>
              <a:off x="611643" y="9757051"/>
              <a:ext cx="2511149" cy="2511149"/>
            </a:xfrm>
            <a:prstGeom prst="ellipse">
              <a:avLst/>
            </a:prstGeom>
            <a:solidFill>
              <a:srgbClr val="7F05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7F207C5D-5641-2C8B-74AD-7B4DC3A83B80}"/>
                </a:ext>
              </a:extLst>
            </p:cNvPr>
            <p:cNvSpPr txBox="1"/>
            <p:nvPr/>
          </p:nvSpPr>
          <p:spPr>
            <a:xfrm>
              <a:off x="850233" y="10282157"/>
              <a:ext cx="2021304" cy="1446550"/>
            </a:xfrm>
            <a:prstGeom prst="rect">
              <a:avLst/>
            </a:prstGeom>
            <a:noFill/>
          </p:spPr>
          <p:txBody>
            <a:bodyPr wrap="square" rtlCol="0">
              <a:spAutoFit/>
            </a:bodyPr>
            <a:lstStyle/>
            <a:p>
              <a:pPr algn="ctr"/>
              <a:r>
                <a:rPr lang="en-GB" sz="8800" dirty="0">
                  <a:solidFill>
                    <a:schemeClr val="bg1"/>
                  </a:solidFill>
                  <a:latin typeface="LEMON MILK" pitchFamily="2" charset="77"/>
                </a:rPr>
                <a:t>3</a:t>
              </a:r>
              <a:endParaRPr lang="en-GB" dirty="0">
                <a:solidFill>
                  <a:schemeClr val="bg1"/>
                </a:solidFill>
                <a:latin typeface="LEMON MILK" pitchFamily="2" charset="77"/>
              </a:endParaRPr>
            </a:p>
          </p:txBody>
        </p:sp>
        <p:sp>
          <p:nvSpPr>
            <p:cNvPr id="34" name="TextBox 33">
              <a:extLst>
                <a:ext uri="{FF2B5EF4-FFF2-40B4-BE49-F238E27FC236}">
                  <a16:creationId xmlns:a16="http://schemas.microsoft.com/office/drawing/2014/main" id="{DB1821DB-9DDD-021A-F8F2-43EA6A1A7C86}"/>
                </a:ext>
              </a:extLst>
            </p:cNvPr>
            <p:cNvSpPr txBox="1"/>
            <p:nvPr/>
          </p:nvSpPr>
          <p:spPr>
            <a:xfrm>
              <a:off x="1837737" y="23840090"/>
              <a:ext cx="17414949" cy="2308324"/>
            </a:xfrm>
            <a:prstGeom prst="rect">
              <a:avLst/>
            </a:prstGeom>
            <a:noFill/>
          </p:spPr>
          <p:txBody>
            <a:bodyPr wrap="square">
              <a:spAutoFit/>
            </a:bodyPr>
            <a:lstStyle/>
            <a:p>
              <a:pPr algn="ctr"/>
              <a:r>
                <a:rPr lang="en-GB" sz="3600" dirty="0"/>
                <a:t>There are clear species differences in both latency to move and proportion of time spent actively swimming, as well as the effect of longer acclimation lengths. Once we have more species, this project will provide a simple guide to expected acclimation times for many species and a step towards developing optimal length and number of acclimation trials.</a:t>
              </a:r>
            </a:p>
          </p:txBody>
        </p:sp>
        <p:sp>
          <p:nvSpPr>
            <p:cNvPr id="35" name="TextBox 34">
              <a:extLst>
                <a:ext uri="{FF2B5EF4-FFF2-40B4-BE49-F238E27FC236}">
                  <a16:creationId xmlns:a16="http://schemas.microsoft.com/office/drawing/2014/main" id="{84556C2D-369A-1642-4DD9-BEA2E073741D}"/>
                </a:ext>
              </a:extLst>
            </p:cNvPr>
            <p:cNvSpPr txBox="1"/>
            <p:nvPr/>
          </p:nvSpPr>
          <p:spPr>
            <a:xfrm>
              <a:off x="3361381" y="10821857"/>
              <a:ext cx="10705999" cy="1015663"/>
            </a:xfrm>
            <a:prstGeom prst="rect">
              <a:avLst/>
            </a:prstGeom>
            <a:noFill/>
          </p:spPr>
          <p:txBody>
            <a:bodyPr wrap="square" rtlCol="0">
              <a:spAutoFit/>
            </a:bodyPr>
            <a:lstStyle/>
            <a:p>
              <a:r>
                <a:rPr lang="en-GB" sz="6000" dirty="0">
                  <a:solidFill>
                    <a:srgbClr val="7F0503"/>
                  </a:solidFill>
                  <a:latin typeface="LEMON MILK" pitchFamily="2" charset="77"/>
                </a:rPr>
                <a:t>Results (so far)</a:t>
              </a:r>
            </a:p>
          </p:txBody>
        </p:sp>
      </p:grpSp>
      <p:grpSp>
        <p:nvGrpSpPr>
          <p:cNvPr id="36" name="Group 35">
            <a:extLst>
              <a:ext uri="{FF2B5EF4-FFF2-40B4-BE49-F238E27FC236}">
                <a16:creationId xmlns:a16="http://schemas.microsoft.com/office/drawing/2014/main" id="{2CE4BB83-7A6C-B91A-32D3-9ACDFD282E9C}"/>
              </a:ext>
            </a:extLst>
          </p:cNvPr>
          <p:cNvGrpSpPr/>
          <p:nvPr/>
        </p:nvGrpSpPr>
        <p:grpSpPr>
          <a:xfrm>
            <a:off x="15672029" y="10979014"/>
            <a:ext cx="13839141" cy="6351211"/>
            <a:chOff x="697833" y="9101577"/>
            <a:chExt cx="13839141" cy="6351211"/>
          </a:xfrm>
        </p:grpSpPr>
        <p:sp>
          <p:nvSpPr>
            <p:cNvPr id="37" name="Rounded Rectangle 36">
              <a:extLst>
                <a:ext uri="{FF2B5EF4-FFF2-40B4-BE49-F238E27FC236}">
                  <a16:creationId xmlns:a16="http://schemas.microsoft.com/office/drawing/2014/main" id="{EB8284C4-EE5F-6CBD-466A-455789DBB09E}"/>
                </a:ext>
              </a:extLst>
            </p:cNvPr>
            <p:cNvSpPr/>
            <p:nvPr/>
          </p:nvSpPr>
          <p:spPr>
            <a:xfrm>
              <a:off x="1076789" y="9626683"/>
              <a:ext cx="13460185" cy="5826105"/>
            </a:xfrm>
            <a:prstGeom prst="roundRect">
              <a:avLst/>
            </a:prstGeom>
            <a:noFill/>
            <a:ln w="203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C1CF2E6B-2A7A-0339-FEEB-6EEBE0252858}"/>
                </a:ext>
              </a:extLst>
            </p:cNvPr>
            <p:cNvSpPr/>
            <p:nvPr/>
          </p:nvSpPr>
          <p:spPr>
            <a:xfrm>
              <a:off x="697833" y="9101577"/>
              <a:ext cx="2511149" cy="2511149"/>
            </a:xfrm>
            <a:prstGeom prst="ellipse">
              <a:avLst/>
            </a:prstGeom>
            <a:solidFill>
              <a:srgbClr val="7F05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0B06C363-DD47-4192-5E43-459061E2A6D7}"/>
                </a:ext>
              </a:extLst>
            </p:cNvPr>
            <p:cNvSpPr txBox="1"/>
            <p:nvPr/>
          </p:nvSpPr>
          <p:spPr>
            <a:xfrm>
              <a:off x="936423" y="9626683"/>
              <a:ext cx="2021304" cy="1446550"/>
            </a:xfrm>
            <a:prstGeom prst="rect">
              <a:avLst/>
            </a:prstGeom>
            <a:noFill/>
          </p:spPr>
          <p:txBody>
            <a:bodyPr wrap="square" rtlCol="0">
              <a:spAutoFit/>
            </a:bodyPr>
            <a:lstStyle/>
            <a:p>
              <a:pPr algn="ctr"/>
              <a:r>
                <a:rPr lang="en-GB" sz="8800" dirty="0">
                  <a:solidFill>
                    <a:schemeClr val="bg1"/>
                  </a:solidFill>
                  <a:latin typeface="LEMON MILK" pitchFamily="2" charset="77"/>
                </a:rPr>
                <a:t>2</a:t>
              </a:r>
              <a:endParaRPr lang="en-GB" dirty="0">
                <a:solidFill>
                  <a:schemeClr val="bg1"/>
                </a:solidFill>
                <a:latin typeface="LEMON MILK" pitchFamily="2" charset="77"/>
              </a:endParaRPr>
            </a:p>
          </p:txBody>
        </p:sp>
        <p:sp>
          <p:nvSpPr>
            <p:cNvPr id="40" name="TextBox 39">
              <a:extLst>
                <a:ext uri="{FF2B5EF4-FFF2-40B4-BE49-F238E27FC236}">
                  <a16:creationId xmlns:a16="http://schemas.microsoft.com/office/drawing/2014/main" id="{EAA1E648-D74D-C830-C541-BF67576142CB}"/>
                </a:ext>
              </a:extLst>
            </p:cNvPr>
            <p:cNvSpPr txBox="1"/>
            <p:nvPr/>
          </p:nvSpPr>
          <p:spPr>
            <a:xfrm>
              <a:off x="1928776" y="11624785"/>
              <a:ext cx="12289936" cy="3416320"/>
            </a:xfrm>
            <a:prstGeom prst="rect">
              <a:avLst/>
            </a:prstGeom>
            <a:noFill/>
          </p:spPr>
          <p:txBody>
            <a:bodyPr wrap="square">
              <a:spAutoFit/>
            </a:bodyPr>
            <a:lstStyle/>
            <a:p>
              <a:r>
                <a:rPr lang="en-GB" sz="3600" dirty="0"/>
                <a:t>We are testing a range of common – and less common – model species in simple open-field behavioural assays across two different lengths of acclimation trials (10 and 30 mins), with individuals tested over three successive days. We measure:</a:t>
              </a:r>
            </a:p>
            <a:p>
              <a:r>
                <a:rPr lang="en-GB" sz="3600" dirty="0"/>
                <a:t>	- Latency to start swimming</a:t>
              </a:r>
            </a:p>
            <a:p>
              <a:r>
                <a:rPr lang="en-GB" sz="3600" dirty="0"/>
                <a:t>	- Time spent swimming freely</a:t>
              </a:r>
            </a:p>
          </p:txBody>
        </p:sp>
        <p:sp>
          <p:nvSpPr>
            <p:cNvPr id="41" name="TextBox 40">
              <a:extLst>
                <a:ext uri="{FF2B5EF4-FFF2-40B4-BE49-F238E27FC236}">
                  <a16:creationId xmlns:a16="http://schemas.microsoft.com/office/drawing/2014/main" id="{ABBFC24D-93F6-E82E-287F-593A8E95A5C9}"/>
                </a:ext>
              </a:extLst>
            </p:cNvPr>
            <p:cNvSpPr txBox="1"/>
            <p:nvPr/>
          </p:nvSpPr>
          <p:spPr>
            <a:xfrm>
              <a:off x="3447572" y="10166383"/>
              <a:ext cx="6949440" cy="1015663"/>
            </a:xfrm>
            <a:prstGeom prst="rect">
              <a:avLst/>
            </a:prstGeom>
            <a:noFill/>
          </p:spPr>
          <p:txBody>
            <a:bodyPr wrap="square" rtlCol="0">
              <a:spAutoFit/>
            </a:bodyPr>
            <a:lstStyle/>
            <a:p>
              <a:r>
                <a:rPr lang="en-GB" sz="6000" dirty="0">
                  <a:solidFill>
                    <a:srgbClr val="7F0503"/>
                  </a:solidFill>
                  <a:latin typeface="LEMON MILK" pitchFamily="2" charset="77"/>
                </a:rPr>
                <a:t>Methods</a:t>
              </a:r>
            </a:p>
          </p:txBody>
        </p:sp>
      </p:grpSp>
      <p:grpSp>
        <p:nvGrpSpPr>
          <p:cNvPr id="42" name="Group 41">
            <a:extLst>
              <a:ext uri="{FF2B5EF4-FFF2-40B4-BE49-F238E27FC236}">
                <a16:creationId xmlns:a16="http://schemas.microsoft.com/office/drawing/2014/main" id="{9C1BBAFB-C697-2B1F-0D7F-B601CD12FDDA}"/>
              </a:ext>
            </a:extLst>
          </p:cNvPr>
          <p:cNvGrpSpPr/>
          <p:nvPr/>
        </p:nvGrpSpPr>
        <p:grpSpPr>
          <a:xfrm>
            <a:off x="20737037" y="26973292"/>
            <a:ext cx="9699179" cy="14530307"/>
            <a:chOff x="611643" y="9757051"/>
            <a:chExt cx="9699179" cy="12724932"/>
          </a:xfrm>
        </p:grpSpPr>
        <p:sp>
          <p:nvSpPr>
            <p:cNvPr id="43" name="Rounded Rectangle 42">
              <a:extLst>
                <a:ext uri="{FF2B5EF4-FFF2-40B4-BE49-F238E27FC236}">
                  <a16:creationId xmlns:a16="http://schemas.microsoft.com/office/drawing/2014/main" id="{00861F2B-3BEE-403A-9794-24C1B017A506}"/>
                </a:ext>
              </a:extLst>
            </p:cNvPr>
            <p:cNvSpPr/>
            <p:nvPr/>
          </p:nvSpPr>
          <p:spPr>
            <a:xfrm>
              <a:off x="990600" y="10282157"/>
              <a:ext cx="8344168" cy="12199826"/>
            </a:xfrm>
            <a:prstGeom prst="roundRect">
              <a:avLst/>
            </a:prstGeom>
            <a:noFill/>
            <a:ln w="203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Oval 43">
              <a:extLst>
                <a:ext uri="{FF2B5EF4-FFF2-40B4-BE49-F238E27FC236}">
                  <a16:creationId xmlns:a16="http://schemas.microsoft.com/office/drawing/2014/main" id="{BF4BE5E1-5C96-0E58-0B05-2586F0F4619C}"/>
                </a:ext>
              </a:extLst>
            </p:cNvPr>
            <p:cNvSpPr/>
            <p:nvPr/>
          </p:nvSpPr>
          <p:spPr>
            <a:xfrm>
              <a:off x="611643" y="9757051"/>
              <a:ext cx="2511149" cy="2511149"/>
            </a:xfrm>
            <a:prstGeom prst="ellipse">
              <a:avLst/>
            </a:prstGeom>
            <a:solidFill>
              <a:srgbClr val="7F05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74A6A345-E61E-92AD-8B57-45B2D2D7E422}"/>
                </a:ext>
              </a:extLst>
            </p:cNvPr>
            <p:cNvSpPr txBox="1"/>
            <p:nvPr/>
          </p:nvSpPr>
          <p:spPr>
            <a:xfrm>
              <a:off x="850233" y="10282157"/>
              <a:ext cx="2021304" cy="1446550"/>
            </a:xfrm>
            <a:prstGeom prst="rect">
              <a:avLst/>
            </a:prstGeom>
            <a:noFill/>
          </p:spPr>
          <p:txBody>
            <a:bodyPr wrap="square" rtlCol="0">
              <a:spAutoFit/>
            </a:bodyPr>
            <a:lstStyle/>
            <a:p>
              <a:pPr algn="ctr"/>
              <a:r>
                <a:rPr lang="en-GB" sz="8800" dirty="0">
                  <a:solidFill>
                    <a:schemeClr val="bg1"/>
                  </a:solidFill>
                  <a:latin typeface="LEMON MILK" pitchFamily="2" charset="77"/>
                </a:rPr>
                <a:t>5</a:t>
              </a:r>
              <a:endParaRPr lang="en-GB" dirty="0">
                <a:solidFill>
                  <a:schemeClr val="bg1"/>
                </a:solidFill>
                <a:latin typeface="LEMON MILK" pitchFamily="2" charset="77"/>
              </a:endParaRPr>
            </a:p>
          </p:txBody>
        </p:sp>
        <p:sp>
          <p:nvSpPr>
            <p:cNvPr id="46" name="TextBox 45">
              <a:extLst>
                <a:ext uri="{FF2B5EF4-FFF2-40B4-BE49-F238E27FC236}">
                  <a16:creationId xmlns:a16="http://schemas.microsoft.com/office/drawing/2014/main" id="{7237B235-F944-0A72-02EC-0B3CC75AAF5A}"/>
                </a:ext>
              </a:extLst>
            </p:cNvPr>
            <p:cNvSpPr txBox="1"/>
            <p:nvPr/>
          </p:nvSpPr>
          <p:spPr>
            <a:xfrm>
              <a:off x="3087612" y="11804061"/>
              <a:ext cx="5791508" cy="566025"/>
            </a:xfrm>
            <a:prstGeom prst="rect">
              <a:avLst/>
            </a:prstGeom>
            <a:noFill/>
          </p:spPr>
          <p:txBody>
            <a:bodyPr wrap="square">
              <a:spAutoFit/>
            </a:bodyPr>
            <a:lstStyle/>
            <a:p>
              <a:r>
                <a:rPr lang="en-GB" sz="3600" i="1" dirty="0"/>
                <a:t>More species!</a:t>
              </a:r>
            </a:p>
          </p:txBody>
        </p:sp>
        <p:sp>
          <p:nvSpPr>
            <p:cNvPr id="47" name="TextBox 46">
              <a:extLst>
                <a:ext uri="{FF2B5EF4-FFF2-40B4-BE49-F238E27FC236}">
                  <a16:creationId xmlns:a16="http://schemas.microsoft.com/office/drawing/2014/main" id="{06F6217E-03B4-118A-F70B-0EB10F51A080}"/>
                </a:ext>
              </a:extLst>
            </p:cNvPr>
            <p:cNvSpPr txBox="1"/>
            <p:nvPr/>
          </p:nvSpPr>
          <p:spPr>
            <a:xfrm>
              <a:off x="3361382" y="10821857"/>
              <a:ext cx="6949440" cy="1015663"/>
            </a:xfrm>
            <a:prstGeom prst="rect">
              <a:avLst/>
            </a:prstGeom>
            <a:noFill/>
          </p:spPr>
          <p:txBody>
            <a:bodyPr wrap="square" rtlCol="0">
              <a:spAutoFit/>
            </a:bodyPr>
            <a:lstStyle/>
            <a:p>
              <a:r>
                <a:rPr lang="en-GB" sz="6000" dirty="0">
                  <a:solidFill>
                    <a:srgbClr val="7F0503"/>
                  </a:solidFill>
                  <a:latin typeface="LEMON MILK" pitchFamily="2" charset="77"/>
                </a:rPr>
                <a:t>Next steps</a:t>
              </a:r>
            </a:p>
          </p:txBody>
        </p:sp>
      </p:grpSp>
      <p:sp>
        <p:nvSpPr>
          <p:cNvPr id="48" name="TextBox 47">
            <a:extLst>
              <a:ext uri="{FF2B5EF4-FFF2-40B4-BE49-F238E27FC236}">
                <a16:creationId xmlns:a16="http://schemas.microsoft.com/office/drawing/2014/main" id="{B0D5E95A-C090-9961-0291-234BA2ECB25F}"/>
              </a:ext>
            </a:extLst>
          </p:cNvPr>
          <p:cNvSpPr txBox="1"/>
          <p:nvPr/>
        </p:nvSpPr>
        <p:spPr>
          <a:xfrm>
            <a:off x="21712275" y="38484943"/>
            <a:ext cx="7016571" cy="1877437"/>
          </a:xfrm>
          <a:prstGeom prst="rect">
            <a:avLst/>
          </a:prstGeom>
          <a:noFill/>
        </p:spPr>
        <p:txBody>
          <a:bodyPr wrap="square">
            <a:spAutoFit/>
          </a:bodyPr>
          <a:lstStyle/>
          <a:p>
            <a:r>
              <a:rPr lang="en-GB" sz="4000" b="1" dirty="0"/>
              <a:t>Work with other fishes? Want to join us? Get in touch!</a:t>
            </a:r>
          </a:p>
          <a:p>
            <a:endParaRPr lang="en-GB" sz="3600" b="1" dirty="0"/>
          </a:p>
        </p:txBody>
      </p:sp>
      <p:sp>
        <p:nvSpPr>
          <p:cNvPr id="52" name="TextBox 51">
            <a:extLst>
              <a:ext uri="{FF2B5EF4-FFF2-40B4-BE49-F238E27FC236}">
                <a16:creationId xmlns:a16="http://schemas.microsoft.com/office/drawing/2014/main" id="{56D2B1E9-569C-EB68-31C2-953DCA08EB42}"/>
              </a:ext>
            </a:extLst>
          </p:cNvPr>
          <p:cNvSpPr txBox="1"/>
          <p:nvPr/>
        </p:nvSpPr>
        <p:spPr>
          <a:xfrm>
            <a:off x="1002633" y="5486400"/>
            <a:ext cx="14134973" cy="1754326"/>
          </a:xfrm>
          <a:prstGeom prst="rect">
            <a:avLst/>
          </a:prstGeom>
          <a:noFill/>
        </p:spPr>
        <p:txBody>
          <a:bodyPr wrap="square" rtlCol="0">
            <a:spAutoFit/>
          </a:bodyPr>
          <a:lstStyle/>
          <a:p>
            <a:r>
              <a:rPr lang="en-GB" sz="3600" dirty="0"/>
              <a:t>Camille Troisi</a:t>
            </a:r>
            <a:r>
              <a:rPr lang="en-GB" sz="3600" baseline="30000" dirty="0"/>
              <a:t>1</a:t>
            </a:r>
            <a:r>
              <a:rPr lang="en-GB" sz="3600" dirty="0"/>
              <a:t>, Li Veiros</a:t>
            </a:r>
            <a:r>
              <a:rPr lang="en-GB" sz="3600" baseline="30000" dirty="0"/>
              <a:t>2</a:t>
            </a:r>
            <a:r>
              <a:rPr lang="en-GB" sz="3600" dirty="0"/>
              <a:t>, </a:t>
            </a:r>
            <a:r>
              <a:rPr lang="en-GB" sz="3600" dirty="0" err="1"/>
              <a:t>Alahnya</a:t>
            </a:r>
            <a:r>
              <a:rPr lang="en-GB" sz="3600"/>
              <a:t> Tomlinson</a:t>
            </a:r>
            <a:r>
              <a:rPr lang="en-GB" sz="3600" baseline="30000"/>
              <a:t>3,</a:t>
            </a:r>
            <a:r>
              <a:rPr lang="en-GB" sz="3600"/>
              <a:t> </a:t>
            </a:r>
            <a:r>
              <a:rPr lang="en-GB" sz="3600" dirty="0"/>
              <a:t>Susi Zajitschek</a:t>
            </a:r>
            <a:r>
              <a:rPr lang="en-GB" sz="3600" baseline="30000" dirty="0"/>
              <a:t>3</a:t>
            </a:r>
            <a:r>
              <a:rPr lang="en-GB" sz="3600" dirty="0"/>
              <a:t>, Amelia Munson</a:t>
            </a:r>
            <a:r>
              <a:rPr lang="en-GB" sz="3600" baseline="30000" dirty="0"/>
              <a:t>4</a:t>
            </a:r>
            <a:r>
              <a:rPr lang="en-GB" sz="3600" dirty="0"/>
              <a:t>, Prathik</a:t>
            </a:r>
            <a:r>
              <a:rPr lang="en-GB" sz="3600" baseline="30000" dirty="0"/>
              <a:t>5</a:t>
            </a:r>
            <a:r>
              <a:rPr lang="en-GB" sz="3600" dirty="0"/>
              <a:t> Jo Frommen</a:t>
            </a:r>
            <a:r>
              <a:rPr lang="en-GB" sz="3600" baseline="30000" dirty="0"/>
              <a:t>5</a:t>
            </a:r>
            <a:r>
              <a:rPr lang="en-GB" sz="3600" dirty="0"/>
              <a:t>, Helen Spence-Jones</a:t>
            </a:r>
            <a:r>
              <a:rPr lang="en-GB" sz="3600" baseline="30000" dirty="0"/>
              <a:t>6</a:t>
            </a:r>
            <a:r>
              <a:rPr lang="en-GB" sz="3600" dirty="0"/>
              <a:t>, Cassandra Scheibl</a:t>
            </a:r>
            <a:r>
              <a:rPr lang="en-GB" sz="3600" baseline="30000" dirty="0"/>
              <a:t>7</a:t>
            </a:r>
            <a:r>
              <a:rPr lang="en-GB" sz="3600" dirty="0"/>
              <a:t>, Nick Jones</a:t>
            </a:r>
            <a:r>
              <a:rPr lang="en-GB" sz="3600" baseline="30000" dirty="0"/>
              <a:t>8</a:t>
            </a:r>
          </a:p>
        </p:txBody>
      </p:sp>
      <p:sp>
        <p:nvSpPr>
          <p:cNvPr id="53" name="TextBox 52">
            <a:extLst>
              <a:ext uri="{FF2B5EF4-FFF2-40B4-BE49-F238E27FC236}">
                <a16:creationId xmlns:a16="http://schemas.microsoft.com/office/drawing/2014/main" id="{EC16D571-3DD7-D9EB-5641-DEBF3884E051}"/>
              </a:ext>
            </a:extLst>
          </p:cNvPr>
          <p:cNvSpPr txBox="1"/>
          <p:nvPr/>
        </p:nvSpPr>
        <p:spPr>
          <a:xfrm>
            <a:off x="1561132" y="7328265"/>
            <a:ext cx="10757647" cy="2308324"/>
          </a:xfrm>
          <a:prstGeom prst="rect">
            <a:avLst/>
          </a:prstGeom>
          <a:noFill/>
        </p:spPr>
        <p:txBody>
          <a:bodyPr wrap="square" rtlCol="0">
            <a:spAutoFit/>
          </a:bodyPr>
          <a:lstStyle/>
          <a:p>
            <a:pPr algn="ctr"/>
            <a:r>
              <a:rPr lang="en-GB" sz="4800" i="1" dirty="0"/>
              <a:t>Are 10-minute trials enough or are 30-minute trials more likely to achieve acclimation?</a:t>
            </a:r>
          </a:p>
        </p:txBody>
      </p:sp>
      <p:sp>
        <p:nvSpPr>
          <p:cNvPr id="54" name="TextBox 53">
            <a:extLst>
              <a:ext uri="{FF2B5EF4-FFF2-40B4-BE49-F238E27FC236}">
                <a16:creationId xmlns:a16="http://schemas.microsoft.com/office/drawing/2014/main" id="{5C6B4221-2052-48DD-A3B3-89C6833F6DF6}"/>
              </a:ext>
            </a:extLst>
          </p:cNvPr>
          <p:cNvSpPr txBox="1"/>
          <p:nvPr/>
        </p:nvSpPr>
        <p:spPr>
          <a:xfrm>
            <a:off x="25204442" y="4060916"/>
            <a:ext cx="4594061" cy="1200329"/>
          </a:xfrm>
          <a:prstGeom prst="rect">
            <a:avLst/>
          </a:prstGeom>
          <a:noFill/>
        </p:spPr>
        <p:txBody>
          <a:bodyPr wrap="square" rtlCol="0">
            <a:spAutoFit/>
          </a:bodyPr>
          <a:lstStyle/>
          <a:p>
            <a:pPr algn="r"/>
            <a:r>
              <a:rPr lang="en-GB" sz="3600" dirty="0" err="1">
                <a:latin typeface="+mj-lt"/>
              </a:rPr>
              <a:t>Ninespine</a:t>
            </a:r>
            <a:r>
              <a:rPr lang="en-GB" sz="3600" dirty="0">
                <a:latin typeface="+mj-lt"/>
              </a:rPr>
              <a:t> stickleback</a:t>
            </a:r>
          </a:p>
          <a:p>
            <a:pPr algn="r"/>
            <a:r>
              <a:rPr lang="en-GB" sz="3600" i="1" dirty="0" err="1">
                <a:latin typeface="+mj-lt"/>
              </a:rPr>
              <a:t>Pungitius</a:t>
            </a:r>
            <a:r>
              <a:rPr lang="en-GB" sz="3600" i="1" dirty="0">
                <a:latin typeface="+mj-lt"/>
              </a:rPr>
              <a:t> </a:t>
            </a:r>
            <a:r>
              <a:rPr lang="en-GB" sz="3600" i="1" dirty="0" err="1">
                <a:latin typeface="+mj-lt"/>
              </a:rPr>
              <a:t>pungitius</a:t>
            </a:r>
            <a:endParaRPr lang="en-GB" sz="3600" i="1" dirty="0">
              <a:latin typeface="+mj-lt"/>
            </a:endParaRPr>
          </a:p>
        </p:txBody>
      </p:sp>
      <p:sp>
        <p:nvSpPr>
          <p:cNvPr id="55" name="TextBox 54">
            <a:extLst>
              <a:ext uri="{FF2B5EF4-FFF2-40B4-BE49-F238E27FC236}">
                <a16:creationId xmlns:a16="http://schemas.microsoft.com/office/drawing/2014/main" id="{E7AEDF29-8104-54B2-8804-5B4BA72FFBCB}"/>
              </a:ext>
            </a:extLst>
          </p:cNvPr>
          <p:cNvSpPr txBox="1"/>
          <p:nvPr/>
        </p:nvSpPr>
        <p:spPr>
          <a:xfrm>
            <a:off x="25286561" y="8061743"/>
            <a:ext cx="4594061" cy="1200329"/>
          </a:xfrm>
          <a:prstGeom prst="rect">
            <a:avLst/>
          </a:prstGeom>
          <a:noFill/>
        </p:spPr>
        <p:txBody>
          <a:bodyPr wrap="square" rtlCol="0">
            <a:spAutoFit/>
          </a:bodyPr>
          <a:lstStyle/>
          <a:p>
            <a:pPr algn="r"/>
            <a:r>
              <a:rPr lang="en-GB" sz="3600" dirty="0">
                <a:latin typeface="+mj-lt"/>
              </a:rPr>
              <a:t>Threespine stickleback</a:t>
            </a:r>
          </a:p>
          <a:p>
            <a:pPr algn="r"/>
            <a:r>
              <a:rPr lang="en-GB" sz="3600" i="1" dirty="0">
                <a:latin typeface="+mj-lt"/>
              </a:rPr>
              <a:t>Gasterosteus aculeatus</a:t>
            </a:r>
          </a:p>
        </p:txBody>
      </p:sp>
      <p:sp>
        <p:nvSpPr>
          <p:cNvPr id="56" name="TextBox 55">
            <a:extLst>
              <a:ext uri="{FF2B5EF4-FFF2-40B4-BE49-F238E27FC236}">
                <a16:creationId xmlns:a16="http://schemas.microsoft.com/office/drawing/2014/main" id="{C9413AEE-C2B0-0F96-B499-BA2AFE984590}"/>
              </a:ext>
            </a:extLst>
          </p:cNvPr>
          <p:cNvSpPr txBox="1"/>
          <p:nvPr/>
        </p:nvSpPr>
        <p:spPr>
          <a:xfrm>
            <a:off x="25463593" y="112659"/>
            <a:ext cx="4594061" cy="1200329"/>
          </a:xfrm>
          <a:prstGeom prst="rect">
            <a:avLst/>
          </a:prstGeom>
          <a:noFill/>
        </p:spPr>
        <p:txBody>
          <a:bodyPr wrap="square" rtlCol="0">
            <a:spAutoFit/>
          </a:bodyPr>
          <a:lstStyle/>
          <a:p>
            <a:pPr algn="r"/>
            <a:r>
              <a:rPr lang="en-GB" sz="3600" dirty="0">
                <a:latin typeface="+mj-lt"/>
              </a:rPr>
              <a:t>Zebrafish</a:t>
            </a:r>
          </a:p>
          <a:p>
            <a:pPr algn="r"/>
            <a:r>
              <a:rPr lang="en-GB" sz="3600" i="1" dirty="0">
                <a:latin typeface="+mj-lt"/>
              </a:rPr>
              <a:t>Danio rerio</a:t>
            </a:r>
          </a:p>
        </p:txBody>
      </p:sp>
      <p:sp>
        <p:nvSpPr>
          <p:cNvPr id="57" name="TextBox 56">
            <a:extLst>
              <a:ext uri="{FF2B5EF4-FFF2-40B4-BE49-F238E27FC236}">
                <a16:creationId xmlns:a16="http://schemas.microsoft.com/office/drawing/2014/main" id="{560852F6-152B-254B-7E94-68A26785184B}"/>
              </a:ext>
            </a:extLst>
          </p:cNvPr>
          <p:cNvSpPr txBox="1"/>
          <p:nvPr/>
        </p:nvSpPr>
        <p:spPr>
          <a:xfrm>
            <a:off x="12110513" y="8835244"/>
            <a:ext cx="4594061" cy="1200329"/>
          </a:xfrm>
          <a:prstGeom prst="rect">
            <a:avLst/>
          </a:prstGeom>
          <a:noFill/>
        </p:spPr>
        <p:txBody>
          <a:bodyPr wrap="square" rtlCol="0">
            <a:spAutoFit/>
          </a:bodyPr>
          <a:lstStyle/>
          <a:p>
            <a:pPr algn="r"/>
            <a:r>
              <a:rPr lang="en-GB" sz="3600" dirty="0">
                <a:latin typeface="+mj-lt"/>
              </a:rPr>
              <a:t>Daffodil cichlid</a:t>
            </a:r>
          </a:p>
          <a:p>
            <a:pPr algn="r"/>
            <a:r>
              <a:rPr lang="en-GB" sz="3600" i="1" dirty="0" err="1">
                <a:latin typeface="+mj-lt"/>
              </a:rPr>
              <a:t>Neolamprogus</a:t>
            </a:r>
            <a:r>
              <a:rPr lang="en-GB" sz="3600" i="1" dirty="0">
                <a:latin typeface="+mj-lt"/>
              </a:rPr>
              <a:t> </a:t>
            </a:r>
            <a:r>
              <a:rPr lang="en-GB" sz="3600" i="1" dirty="0" err="1">
                <a:latin typeface="+mj-lt"/>
              </a:rPr>
              <a:t>pulcher</a:t>
            </a:r>
            <a:endParaRPr lang="en-GB" sz="3600" i="1" dirty="0">
              <a:latin typeface="+mj-lt"/>
            </a:endParaRPr>
          </a:p>
        </p:txBody>
      </p:sp>
      <p:pic>
        <p:nvPicPr>
          <p:cNvPr id="2" name="Picture 1">
            <a:extLst>
              <a:ext uri="{FF2B5EF4-FFF2-40B4-BE49-F238E27FC236}">
                <a16:creationId xmlns:a16="http://schemas.microsoft.com/office/drawing/2014/main" id="{2ED0B00D-9423-6518-C07F-F1583C2DB2E5}"/>
              </a:ext>
            </a:extLst>
          </p:cNvPr>
          <p:cNvPicPr>
            <a:picLocks noChangeAspect="1"/>
          </p:cNvPicPr>
          <p:nvPr/>
        </p:nvPicPr>
        <p:blipFill>
          <a:blip r:embed="rId9"/>
          <a:stretch>
            <a:fillRect/>
          </a:stretch>
        </p:blipFill>
        <p:spPr>
          <a:xfrm>
            <a:off x="21369426" y="30100815"/>
            <a:ext cx="2877133" cy="1774088"/>
          </a:xfrm>
          <a:prstGeom prst="rect">
            <a:avLst/>
          </a:prstGeom>
        </p:spPr>
      </p:pic>
      <p:pic>
        <p:nvPicPr>
          <p:cNvPr id="3" name="Picture 2">
            <a:extLst>
              <a:ext uri="{FF2B5EF4-FFF2-40B4-BE49-F238E27FC236}">
                <a16:creationId xmlns:a16="http://schemas.microsoft.com/office/drawing/2014/main" id="{E3F88E05-2A82-4213-8448-35AEE0844051}"/>
              </a:ext>
            </a:extLst>
          </p:cNvPr>
          <p:cNvPicPr>
            <a:picLocks noChangeAspect="1"/>
          </p:cNvPicPr>
          <p:nvPr/>
        </p:nvPicPr>
        <p:blipFill>
          <a:blip r:embed="rId10"/>
          <a:stretch>
            <a:fillRect/>
          </a:stretch>
        </p:blipFill>
        <p:spPr>
          <a:xfrm>
            <a:off x="24877933" y="30065596"/>
            <a:ext cx="3989216" cy="2978702"/>
          </a:xfrm>
          <a:prstGeom prst="rect">
            <a:avLst/>
          </a:prstGeom>
        </p:spPr>
      </p:pic>
      <p:pic>
        <p:nvPicPr>
          <p:cNvPr id="4" name="Picture 3">
            <a:extLst>
              <a:ext uri="{FF2B5EF4-FFF2-40B4-BE49-F238E27FC236}">
                <a16:creationId xmlns:a16="http://schemas.microsoft.com/office/drawing/2014/main" id="{1795BF40-4BCF-E7F5-7388-2E327ED046F6}"/>
              </a:ext>
            </a:extLst>
          </p:cNvPr>
          <p:cNvPicPr>
            <a:picLocks noChangeAspect="1"/>
          </p:cNvPicPr>
          <p:nvPr/>
        </p:nvPicPr>
        <p:blipFill>
          <a:blip r:embed="rId11"/>
          <a:stretch>
            <a:fillRect/>
          </a:stretch>
        </p:blipFill>
        <p:spPr>
          <a:xfrm>
            <a:off x="21391861" y="32169201"/>
            <a:ext cx="3421103" cy="1875114"/>
          </a:xfrm>
          <a:prstGeom prst="rect">
            <a:avLst/>
          </a:prstGeom>
        </p:spPr>
      </p:pic>
      <p:pic>
        <p:nvPicPr>
          <p:cNvPr id="6" name="Picture 5">
            <a:extLst>
              <a:ext uri="{FF2B5EF4-FFF2-40B4-BE49-F238E27FC236}">
                <a16:creationId xmlns:a16="http://schemas.microsoft.com/office/drawing/2014/main" id="{44059B92-AACC-0917-A288-A7234FDC38BF}"/>
              </a:ext>
            </a:extLst>
          </p:cNvPr>
          <p:cNvPicPr>
            <a:picLocks noChangeAspect="1"/>
          </p:cNvPicPr>
          <p:nvPr/>
        </p:nvPicPr>
        <p:blipFill>
          <a:blip r:embed="rId12"/>
          <a:stretch>
            <a:fillRect/>
          </a:stretch>
        </p:blipFill>
        <p:spPr>
          <a:xfrm>
            <a:off x="24812964" y="33259334"/>
            <a:ext cx="3989216" cy="1691373"/>
          </a:xfrm>
          <a:prstGeom prst="rect">
            <a:avLst/>
          </a:prstGeom>
        </p:spPr>
      </p:pic>
      <p:pic>
        <p:nvPicPr>
          <p:cNvPr id="8" name="Picture 7">
            <a:extLst>
              <a:ext uri="{FF2B5EF4-FFF2-40B4-BE49-F238E27FC236}">
                <a16:creationId xmlns:a16="http://schemas.microsoft.com/office/drawing/2014/main" id="{D7DE2664-7B48-783C-9FFE-0CC6A3878173}"/>
              </a:ext>
            </a:extLst>
          </p:cNvPr>
          <p:cNvPicPr>
            <a:picLocks noChangeAspect="1"/>
          </p:cNvPicPr>
          <p:nvPr/>
        </p:nvPicPr>
        <p:blipFill>
          <a:blip r:embed="rId13"/>
          <a:stretch>
            <a:fillRect/>
          </a:stretch>
        </p:blipFill>
        <p:spPr>
          <a:xfrm>
            <a:off x="21518279" y="34644778"/>
            <a:ext cx="4335379" cy="1662070"/>
          </a:xfrm>
          <a:prstGeom prst="rect">
            <a:avLst/>
          </a:prstGeom>
        </p:spPr>
      </p:pic>
      <p:sp>
        <p:nvSpPr>
          <p:cNvPr id="10" name="TextBox 9">
            <a:extLst>
              <a:ext uri="{FF2B5EF4-FFF2-40B4-BE49-F238E27FC236}">
                <a16:creationId xmlns:a16="http://schemas.microsoft.com/office/drawing/2014/main" id="{66563615-1B5C-BABF-5CB5-58A3042351DA}"/>
              </a:ext>
            </a:extLst>
          </p:cNvPr>
          <p:cNvSpPr txBox="1"/>
          <p:nvPr/>
        </p:nvSpPr>
        <p:spPr>
          <a:xfrm>
            <a:off x="21944426" y="30265001"/>
            <a:ext cx="1542350" cy="707886"/>
          </a:xfrm>
          <a:prstGeom prst="rect">
            <a:avLst/>
          </a:prstGeom>
          <a:noFill/>
        </p:spPr>
        <p:txBody>
          <a:bodyPr wrap="square">
            <a:spAutoFit/>
          </a:bodyPr>
          <a:lstStyle/>
          <a:p>
            <a:r>
              <a:rPr lang="en-GB" sz="2000" i="1" dirty="0" err="1">
                <a:solidFill>
                  <a:schemeClr val="bg1"/>
                </a:solidFill>
              </a:rPr>
              <a:t>Trichogaster</a:t>
            </a:r>
            <a:r>
              <a:rPr lang="en-GB" sz="2000" i="1" dirty="0">
                <a:solidFill>
                  <a:schemeClr val="bg1"/>
                </a:solidFill>
              </a:rPr>
              <a:t> </a:t>
            </a:r>
            <a:r>
              <a:rPr lang="en-GB" sz="2000" i="1" dirty="0" err="1">
                <a:solidFill>
                  <a:schemeClr val="bg1"/>
                </a:solidFill>
              </a:rPr>
              <a:t>lalius</a:t>
            </a:r>
            <a:endParaRPr lang="en-GB" sz="2000" i="1" dirty="0">
              <a:solidFill>
                <a:schemeClr val="bg1"/>
              </a:solidFill>
            </a:endParaRPr>
          </a:p>
        </p:txBody>
      </p:sp>
      <p:sp>
        <p:nvSpPr>
          <p:cNvPr id="12" name="TextBox 11">
            <a:extLst>
              <a:ext uri="{FF2B5EF4-FFF2-40B4-BE49-F238E27FC236}">
                <a16:creationId xmlns:a16="http://schemas.microsoft.com/office/drawing/2014/main" id="{50A6D1E7-BAA9-FB42-2F5E-F5857672A4D0}"/>
              </a:ext>
            </a:extLst>
          </p:cNvPr>
          <p:cNvSpPr txBox="1"/>
          <p:nvPr/>
        </p:nvSpPr>
        <p:spPr>
          <a:xfrm>
            <a:off x="26466148" y="31115429"/>
            <a:ext cx="1542350" cy="707886"/>
          </a:xfrm>
          <a:prstGeom prst="rect">
            <a:avLst/>
          </a:prstGeom>
          <a:noFill/>
        </p:spPr>
        <p:txBody>
          <a:bodyPr wrap="square">
            <a:spAutoFit/>
          </a:bodyPr>
          <a:lstStyle/>
          <a:p>
            <a:r>
              <a:rPr lang="en-GB" sz="2000" i="1" dirty="0" err="1">
                <a:solidFill>
                  <a:schemeClr val="bg1"/>
                </a:solidFill>
              </a:rPr>
              <a:t>Macropodus</a:t>
            </a:r>
            <a:r>
              <a:rPr lang="en-GB" sz="2000" i="1" dirty="0">
                <a:solidFill>
                  <a:schemeClr val="bg1"/>
                </a:solidFill>
              </a:rPr>
              <a:t> ocellatus</a:t>
            </a:r>
          </a:p>
        </p:txBody>
      </p:sp>
      <p:sp>
        <p:nvSpPr>
          <p:cNvPr id="15" name="TextBox 14">
            <a:extLst>
              <a:ext uri="{FF2B5EF4-FFF2-40B4-BE49-F238E27FC236}">
                <a16:creationId xmlns:a16="http://schemas.microsoft.com/office/drawing/2014/main" id="{D7C11E90-46FB-69FD-FCBB-F035CAE52961}"/>
              </a:ext>
            </a:extLst>
          </p:cNvPr>
          <p:cNvSpPr txBox="1"/>
          <p:nvPr/>
        </p:nvSpPr>
        <p:spPr>
          <a:xfrm>
            <a:off x="21991024" y="32607452"/>
            <a:ext cx="2063520" cy="707886"/>
          </a:xfrm>
          <a:prstGeom prst="rect">
            <a:avLst/>
          </a:prstGeom>
          <a:noFill/>
        </p:spPr>
        <p:txBody>
          <a:bodyPr wrap="square">
            <a:spAutoFit/>
          </a:bodyPr>
          <a:lstStyle/>
          <a:p>
            <a:r>
              <a:rPr lang="en-GB" sz="2000" i="1" dirty="0" err="1">
                <a:solidFill>
                  <a:schemeClr val="bg1"/>
                </a:solidFill>
              </a:rPr>
              <a:t>Neolamprologus</a:t>
            </a:r>
            <a:r>
              <a:rPr lang="en-GB" sz="2000" i="1" dirty="0">
                <a:solidFill>
                  <a:schemeClr val="bg1"/>
                </a:solidFill>
              </a:rPr>
              <a:t> </a:t>
            </a:r>
            <a:r>
              <a:rPr lang="en-GB" sz="2000" i="1" dirty="0" err="1">
                <a:solidFill>
                  <a:schemeClr val="bg1"/>
                </a:solidFill>
              </a:rPr>
              <a:t>similis</a:t>
            </a:r>
            <a:endParaRPr lang="en-GB" sz="2000" i="1" dirty="0">
              <a:solidFill>
                <a:schemeClr val="bg1"/>
              </a:solidFill>
            </a:endParaRPr>
          </a:p>
        </p:txBody>
      </p:sp>
      <p:sp>
        <p:nvSpPr>
          <p:cNvPr id="22" name="TextBox 21">
            <a:extLst>
              <a:ext uri="{FF2B5EF4-FFF2-40B4-BE49-F238E27FC236}">
                <a16:creationId xmlns:a16="http://schemas.microsoft.com/office/drawing/2014/main" id="{5DB0FB02-4EC7-95AE-CF0D-9A9499707145}"/>
              </a:ext>
            </a:extLst>
          </p:cNvPr>
          <p:cNvSpPr txBox="1"/>
          <p:nvPr/>
        </p:nvSpPr>
        <p:spPr>
          <a:xfrm>
            <a:off x="22287104" y="35032039"/>
            <a:ext cx="2063520" cy="400110"/>
          </a:xfrm>
          <a:prstGeom prst="rect">
            <a:avLst/>
          </a:prstGeom>
          <a:noFill/>
        </p:spPr>
        <p:txBody>
          <a:bodyPr wrap="square">
            <a:spAutoFit/>
          </a:bodyPr>
          <a:lstStyle/>
          <a:p>
            <a:r>
              <a:rPr lang="en-GB" sz="2000" i="1" dirty="0" err="1">
                <a:solidFill>
                  <a:schemeClr val="bg1"/>
                </a:solidFill>
              </a:rPr>
              <a:t>Julidochromis</a:t>
            </a:r>
            <a:r>
              <a:rPr lang="en-GB" sz="2000" i="1" dirty="0">
                <a:solidFill>
                  <a:schemeClr val="bg1"/>
                </a:solidFill>
              </a:rPr>
              <a:t> sp.</a:t>
            </a:r>
          </a:p>
        </p:txBody>
      </p:sp>
      <p:sp>
        <p:nvSpPr>
          <p:cNvPr id="49" name="TextBox 48">
            <a:extLst>
              <a:ext uri="{FF2B5EF4-FFF2-40B4-BE49-F238E27FC236}">
                <a16:creationId xmlns:a16="http://schemas.microsoft.com/office/drawing/2014/main" id="{D8D57F45-7092-A63D-D697-73909953233E}"/>
              </a:ext>
            </a:extLst>
          </p:cNvPr>
          <p:cNvSpPr txBox="1"/>
          <p:nvPr/>
        </p:nvSpPr>
        <p:spPr>
          <a:xfrm>
            <a:off x="26445023" y="33989188"/>
            <a:ext cx="2063520" cy="400110"/>
          </a:xfrm>
          <a:prstGeom prst="rect">
            <a:avLst/>
          </a:prstGeom>
          <a:noFill/>
        </p:spPr>
        <p:txBody>
          <a:bodyPr wrap="square">
            <a:spAutoFit/>
          </a:bodyPr>
          <a:lstStyle/>
          <a:p>
            <a:r>
              <a:rPr lang="en-GB" sz="2000" i="1" dirty="0">
                <a:solidFill>
                  <a:schemeClr val="bg1"/>
                </a:solidFill>
              </a:rPr>
              <a:t>Sparus aurata</a:t>
            </a:r>
          </a:p>
        </p:txBody>
      </p:sp>
      <p:sp>
        <p:nvSpPr>
          <p:cNvPr id="51" name="TextBox 50">
            <a:extLst>
              <a:ext uri="{FF2B5EF4-FFF2-40B4-BE49-F238E27FC236}">
                <a16:creationId xmlns:a16="http://schemas.microsoft.com/office/drawing/2014/main" id="{614DDAE7-5B07-D071-739A-07BDDE47FE3D}"/>
              </a:ext>
            </a:extLst>
          </p:cNvPr>
          <p:cNvSpPr txBox="1"/>
          <p:nvPr/>
        </p:nvSpPr>
        <p:spPr>
          <a:xfrm>
            <a:off x="22870461" y="39938123"/>
            <a:ext cx="7016571" cy="1200329"/>
          </a:xfrm>
          <a:prstGeom prst="rect">
            <a:avLst/>
          </a:prstGeom>
          <a:noFill/>
        </p:spPr>
        <p:txBody>
          <a:bodyPr wrap="square">
            <a:spAutoFit/>
          </a:bodyPr>
          <a:lstStyle/>
          <a:p>
            <a:r>
              <a:rPr lang="en-GB" sz="3600" dirty="0" err="1"/>
              <a:t>camille.troisi@mail.mcgill.ca</a:t>
            </a:r>
            <a:endParaRPr lang="en-GB" sz="3600" dirty="0"/>
          </a:p>
          <a:p>
            <a:r>
              <a:rPr lang="en-GB" sz="3600" dirty="0" err="1"/>
              <a:t>narj@st-andrews.ac.uk</a:t>
            </a:r>
            <a:endParaRPr lang="en-GB" sz="3600" dirty="0"/>
          </a:p>
        </p:txBody>
      </p:sp>
      <p:pic>
        <p:nvPicPr>
          <p:cNvPr id="61" name="Graphic 60" descr="Email with solid fill">
            <a:extLst>
              <a:ext uri="{FF2B5EF4-FFF2-40B4-BE49-F238E27FC236}">
                <a16:creationId xmlns:a16="http://schemas.microsoft.com/office/drawing/2014/main" id="{BC72FED0-F0FD-1914-DE74-0A72024A64F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854260" y="40081087"/>
            <a:ext cx="914400" cy="914400"/>
          </a:xfrm>
          <a:prstGeom prst="rect">
            <a:avLst/>
          </a:prstGeom>
        </p:spPr>
      </p:pic>
      <p:sp>
        <p:nvSpPr>
          <p:cNvPr id="58" name="TextBox 57">
            <a:extLst>
              <a:ext uri="{FF2B5EF4-FFF2-40B4-BE49-F238E27FC236}">
                <a16:creationId xmlns:a16="http://schemas.microsoft.com/office/drawing/2014/main" id="{6DDBC678-CF2C-D13E-73FD-4A0240CD61A0}"/>
              </a:ext>
            </a:extLst>
          </p:cNvPr>
          <p:cNvSpPr txBox="1"/>
          <p:nvPr/>
        </p:nvSpPr>
        <p:spPr>
          <a:xfrm>
            <a:off x="3069992" y="40499597"/>
            <a:ext cx="15532192" cy="1200329"/>
          </a:xfrm>
          <a:prstGeom prst="rect">
            <a:avLst/>
          </a:prstGeom>
          <a:noFill/>
        </p:spPr>
        <p:txBody>
          <a:bodyPr wrap="square">
            <a:spAutoFit/>
          </a:bodyPr>
          <a:lstStyle/>
          <a:p>
            <a:pPr algn="ctr"/>
            <a:r>
              <a:rPr lang="en-GB" sz="3600" i="1" dirty="0"/>
              <a:t>Activity rates over the first 400 seconds of trials for threespine stickleback on successive trial days</a:t>
            </a:r>
          </a:p>
        </p:txBody>
      </p:sp>
      <p:sp>
        <p:nvSpPr>
          <p:cNvPr id="63" name="TextBox 62">
            <a:extLst>
              <a:ext uri="{FF2B5EF4-FFF2-40B4-BE49-F238E27FC236}">
                <a16:creationId xmlns:a16="http://schemas.microsoft.com/office/drawing/2014/main" id="{12FD3C52-AA65-A52E-9BE4-938A2BC3B7D8}"/>
              </a:ext>
            </a:extLst>
          </p:cNvPr>
          <p:cNvSpPr txBox="1"/>
          <p:nvPr/>
        </p:nvSpPr>
        <p:spPr>
          <a:xfrm>
            <a:off x="23102412" y="36789319"/>
            <a:ext cx="5791508" cy="1200329"/>
          </a:xfrm>
          <a:prstGeom prst="rect">
            <a:avLst/>
          </a:prstGeom>
          <a:noFill/>
        </p:spPr>
        <p:txBody>
          <a:bodyPr wrap="square">
            <a:spAutoFit/>
          </a:bodyPr>
          <a:lstStyle/>
          <a:p>
            <a:r>
              <a:rPr lang="en-GB" sz="3600" i="1" dirty="0"/>
              <a:t>And adding novel object trials on day 4 of testing…</a:t>
            </a:r>
          </a:p>
        </p:txBody>
      </p:sp>
      <p:sp>
        <p:nvSpPr>
          <p:cNvPr id="64" name="Rectangle 63">
            <a:extLst>
              <a:ext uri="{FF2B5EF4-FFF2-40B4-BE49-F238E27FC236}">
                <a16:creationId xmlns:a16="http://schemas.microsoft.com/office/drawing/2014/main" id="{5F3A5578-9807-E037-CA21-46880321F8CA}"/>
              </a:ext>
            </a:extLst>
          </p:cNvPr>
          <p:cNvSpPr/>
          <p:nvPr/>
        </p:nvSpPr>
        <p:spPr>
          <a:xfrm>
            <a:off x="1946374" y="20431355"/>
            <a:ext cx="17779428" cy="2457904"/>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5" name="Rectangle 64">
            <a:extLst>
              <a:ext uri="{FF2B5EF4-FFF2-40B4-BE49-F238E27FC236}">
                <a16:creationId xmlns:a16="http://schemas.microsoft.com/office/drawing/2014/main" id="{7486C63A-16DE-B75B-F32F-DB30DAD3C0AB}"/>
              </a:ext>
            </a:extLst>
          </p:cNvPr>
          <p:cNvSpPr/>
          <p:nvPr/>
        </p:nvSpPr>
        <p:spPr>
          <a:xfrm>
            <a:off x="5322984" y="21359237"/>
            <a:ext cx="14402818" cy="1530022"/>
          </a:xfrm>
          <a:prstGeom prst="rect">
            <a:avLst/>
          </a:prstGeom>
          <a:solidFill>
            <a:schemeClr val="accent1">
              <a:lumMod val="40000"/>
              <a:lumOff val="6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Box 65">
            <a:extLst>
              <a:ext uri="{FF2B5EF4-FFF2-40B4-BE49-F238E27FC236}">
                <a16:creationId xmlns:a16="http://schemas.microsoft.com/office/drawing/2014/main" id="{2BF0371E-896A-C639-AA08-37C9ED3978BA}"/>
              </a:ext>
            </a:extLst>
          </p:cNvPr>
          <p:cNvSpPr txBox="1"/>
          <p:nvPr/>
        </p:nvSpPr>
        <p:spPr>
          <a:xfrm>
            <a:off x="6511636" y="20331406"/>
            <a:ext cx="11585352" cy="1015663"/>
          </a:xfrm>
          <a:prstGeom prst="rect">
            <a:avLst/>
          </a:prstGeom>
          <a:noFill/>
        </p:spPr>
        <p:txBody>
          <a:bodyPr wrap="square" rtlCol="0">
            <a:spAutoFit/>
          </a:bodyPr>
          <a:lstStyle/>
          <a:p>
            <a:pPr algn="ctr"/>
            <a:r>
              <a:rPr lang="en-GB" sz="6000" b="1" dirty="0">
                <a:solidFill>
                  <a:schemeClr val="bg1"/>
                </a:solidFill>
              </a:rPr>
              <a:t>Acclimation Measures (day 3)</a:t>
            </a:r>
          </a:p>
        </p:txBody>
      </p:sp>
      <p:sp>
        <p:nvSpPr>
          <p:cNvPr id="67" name="TextBox 66">
            <a:extLst>
              <a:ext uri="{FF2B5EF4-FFF2-40B4-BE49-F238E27FC236}">
                <a16:creationId xmlns:a16="http://schemas.microsoft.com/office/drawing/2014/main" id="{0669200D-BAE9-F56C-5D04-754254D038C2}"/>
              </a:ext>
            </a:extLst>
          </p:cNvPr>
          <p:cNvSpPr txBox="1"/>
          <p:nvPr/>
        </p:nvSpPr>
        <p:spPr>
          <a:xfrm>
            <a:off x="5589732" y="21731208"/>
            <a:ext cx="5181909" cy="707886"/>
          </a:xfrm>
          <a:prstGeom prst="rect">
            <a:avLst/>
          </a:prstGeom>
          <a:noFill/>
        </p:spPr>
        <p:txBody>
          <a:bodyPr wrap="square" rtlCol="0">
            <a:spAutoFit/>
          </a:bodyPr>
          <a:lstStyle/>
          <a:p>
            <a:pPr algn="ctr"/>
            <a:r>
              <a:rPr lang="en-GB" sz="4000" b="1" dirty="0">
                <a:solidFill>
                  <a:srgbClr val="7F0503"/>
                </a:solidFill>
              </a:rPr>
              <a:t>Latency to swim (s)</a:t>
            </a:r>
          </a:p>
        </p:txBody>
      </p:sp>
      <p:sp>
        <p:nvSpPr>
          <p:cNvPr id="68" name="TextBox 67">
            <a:extLst>
              <a:ext uri="{FF2B5EF4-FFF2-40B4-BE49-F238E27FC236}">
                <a16:creationId xmlns:a16="http://schemas.microsoft.com/office/drawing/2014/main" id="{FE0834E6-9F8C-0E66-43E7-20B0E6C9D51E}"/>
              </a:ext>
            </a:extLst>
          </p:cNvPr>
          <p:cNvSpPr txBox="1"/>
          <p:nvPr/>
        </p:nvSpPr>
        <p:spPr>
          <a:xfrm>
            <a:off x="13034357" y="21487936"/>
            <a:ext cx="5181909" cy="1323439"/>
          </a:xfrm>
          <a:prstGeom prst="rect">
            <a:avLst/>
          </a:prstGeom>
          <a:noFill/>
        </p:spPr>
        <p:txBody>
          <a:bodyPr wrap="square" rtlCol="0">
            <a:spAutoFit/>
          </a:bodyPr>
          <a:lstStyle/>
          <a:p>
            <a:pPr algn="ctr"/>
            <a:r>
              <a:rPr lang="en-GB" sz="4000" b="1" dirty="0">
                <a:solidFill>
                  <a:srgbClr val="7F0503"/>
                </a:solidFill>
              </a:rPr>
              <a:t>Time spent actively swimming (%)</a:t>
            </a:r>
          </a:p>
        </p:txBody>
      </p:sp>
      <p:sp>
        <p:nvSpPr>
          <p:cNvPr id="69" name="TextBox 68">
            <a:extLst>
              <a:ext uri="{FF2B5EF4-FFF2-40B4-BE49-F238E27FC236}">
                <a16:creationId xmlns:a16="http://schemas.microsoft.com/office/drawing/2014/main" id="{DCA834DD-0595-378E-3BDB-B7A2C4372A59}"/>
              </a:ext>
            </a:extLst>
          </p:cNvPr>
          <p:cNvSpPr txBox="1"/>
          <p:nvPr/>
        </p:nvSpPr>
        <p:spPr>
          <a:xfrm>
            <a:off x="1943727" y="21139199"/>
            <a:ext cx="3379257" cy="923330"/>
          </a:xfrm>
          <a:prstGeom prst="rect">
            <a:avLst/>
          </a:prstGeom>
          <a:noFill/>
        </p:spPr>
        <p:txBody>
          <a:bodyPr wrap="square" rtlCol="0">
            <a:spAutoFit/>
          </a:bodyPr>
          <a:lstStyle/>
          <a:p>
            <a:pPr algn="ctr"/>
            <a:r>
              <a:rPr lang="en-GB" sz="5400" b="1" i="1" dirty="0">
                <a:solidFill>
                  <a:schemeClr val="bg1"/>
                </a:solidFill>
              </a:rPr>
              <a:t>Species</a:t>
            </a:r>
          </a:p>
        </p:txBody>
      </p:sp>
      <p:pic>
        <p:nvPicPr>
          <p:cNvPr id="70" name="Picture 69">
            <a:extLst>
              <a:ext uri="{FF2B5EF4-FFF2-40B4-BE49-F238E27FC236}">
                <a16:creationId xmlns:a16="http://schemas.microsoft.com/office/drawing/2014/main" id="{22109A8B-A811-4084-A746-18A70415B34C}"/>
              </a:ext>
            </a:extLst>
          </p:cNvPr>
          <p:cNvPicPr>
            <a:picLocks noChangeAspect="1"/>
          </p:cNvPicPr>
          <p:nvPr/>
        </p:nvPicPr>
        <p:blipFill>
          <a:blip r:embed="rId5"/>
          <a:stretch>
            <a:fillRect/>
          </a:stretch>
        </p:blipFill>
        <p:spPr>
          <a:xfrm>
            <a:off x="1912891" y="23020364"/>
            <a:ext cx="3379257" cy="1598933"/>
          </a:xfrm>
          <a:prstGeom prst="rect">
            <a:avLst/>
          </a:prstGeom>
        </p:spPr>
      </p:pic>
      <p:pic>
        <p:nvPicPr>
          <p:cNvPr id="71" name="Picture 70">
            <a:extLst>
              <a:ext uri="{FF2B5EF4-FFF2-40B4-BE49-F238E27FC236}">
                <a16:creationId xmlns:a16="http://schemas.microsoft.com/office/drawing/2014/main" id="{49B2D270-40D5-FF84-05AD-AB95F5CB7319}"/>
              </a:ext>
            </a:extLst>
          </p:cNvPr>
          <p:cNvPicPr>
            <a:picLocks noChangeAspect="1"/>
          </p:cNvPicPr>
          <p:nvPr/>
        </p:nvPicPr>
        <p:blipFill>
          <a:blip r:embed="rId6"/>
          <a:stretch>
            <a:fillRect/>
          </a:stretch>
        </p:blipFill>
        <p:spPr>
          <a:xfrm>
            <a:off x="1963483" y="25208091"/>
            <a:ext cx="3309699" cy="1351849"/>
          </a:xfrm>
          <a:prstGeom prst="rect">
            <a:avLst/>
          </a:prstGeom>
        </p:spPr>
      </p:pic>
      <p:pic>
        <p:nvPicPr>
          <p:cNvPr id="72" name="Picture 71">
            <a:extLst>
              <a:ext uri="{FF2B5EF4-FFF2-40B4-BE49-F238E27FC236}">
                <a16:creationId xmlns:a16="http://schemas.microsoft.com/office/drawing/2014/main" id="{60FA046C-9C8B-62E4-FD5F-BC9152875162}"/>
              </a:ext>
            </a:extLst>
          </p:cNvPr>
          <p:cNvPicPr>
            <a:picLocks noChangeAspect="1"/>
          </p:cNvPicPr>
          <p:nvPr/>
        </p:nvPicPr>
        <p:blipFill>
          <a:blip r:embed="rId7"/>
          <a:stretch>
            <a:fillRect/>
          </a:stretch>
        </p:blipFill>
        <p:spPr>
          <a:xfrm>
            <a:off x="1776588" y="27343132"/>
            <a:ext cx="3615361" cy="1397385"/>
          </a:xfrm>
          <a:prstGeom prst="rect">
            <a:avLst/>
          </a:prstGeom>
        </p:spPr>
      </p:pic>
      <p:pic>
        <p:nvPicPr>
          <p:cNvPr id="73" name="Picture 72">
            <a:extLst>
              <a:ext uri="{FF2B5EF4-FFF2-40B4-BE49-F238E27FC236}">
                <a16:creationId xmlns:a16="http://schemas.microsoft.com/office/drawing/2014/main" id="{775B1BFF-F642-E760-F627-B23ACA0465AB}"/>
              </a:ext>
            </a:extLst>
          </p:cNvPr>
          <p:cNvPicPr>
            <a:picLocks noChangeAspect="1"/>
          </p:cNvPicPr>
          <p:nvPr/>
        </p:nvPicPr>
        <p:blipFill>
          <a:blip r:embed="rId8"/>
          <a:stretch>
            <a:fillRect/>
          </a:stretch>
        </p:blipFill>
        <p:spPr>
          <a:xfrm>
            <a:off x="1904517" y="29356171"/>
            <a:ext cx="3359501" cy="1710291"/>
          </a:xfrm>
          <a:prstGeom prst="rect">
            <a:avLst/>
          </a:prstGeom>
        </p:spPr>
      </p:pic>
      <p:cxnSp>
        <p:nvCxnSpPr>
          <p:cNvPr id="80" name="Straight Connector 79">
            <a:extLst>
              <a:ext uri="{FF2B5EF4-FFF2-40B4-BE49-F238E27FC236}">
                <a16:creationId xmlns:a16="http://schemas.microsoft.com/office/drawing/2014/main" id="{DF5642FC-5B1B-73B4-9C7E-768A03D3FDF9}"/>
              </a:ext>
            </a:extLst>
          </p:cNvPr>
          <p:cNvCxnSpPr>
            <a:cxnSpLocks/>
          </p:cNvCxnSpPr>
          <p:nvPr/>
        </p:nvCxnSpPr>
        <p:spPr>
          <a:xfrm flipV="1">
            <a:off x="11449427" y="21359237"/>
            <a:ext cx="0" cy="10110135"/>
          </a:xfrm>
          <a:prstGeom prst="line">
            <a:avLst/>
          </a:prstGeom>
          <a:ln w="82550">
            <a:solidFill>
              <a:srgbClr val="7F0503"/>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37AF2730-CBBC-670C-DD82-C333580FC210}"/>
              </a:ext>
            </a:extLst>
          </p:cNvPr>
          <p:cNvCxnSpPr>
            <a:cxnSpLocks/>
          </p:cNvCxnSpPr>
          <p:nvPr/>
        </p:nvCxnSpPr>
        <p:spPr>
          <a:xfrm>
            <a:off x="1943727" y="24842657"/>
            <a:ext cx="17801272" cy="0"/>
          </a:xfrm>
          <a:prstGeom prst="line">
            <a:avLst/>
          </a:prstGeom>
          <a:ln w="825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8ED2726-0606-2918-8DEE-D4DC9A346D3D}"/>
              </a:ext>
            </a:extLst>
          </p:cNvPr>
          <p:cNvCxnSpPr>
            <a:cxnSpLocks/>
          </p:cNvCxnSpPr>
          <p:nvPr/>
        </p:nvCxnSpPr>
        <p:spPr>
          <a:xfrm>
            <a:off x="2013285" y="27031355"/>
            <a:ext cx="17801272" cy="0"/>
          </a:xfrm>
          <a:prstGeom prst="line">
            <a:avLst/>
          </a:prstGeom>
          <a:ln w="825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A8A186F-FA9F-574C-5AF9-C8F15B09B94B}"/>
              </a:ext>
            </a:extLst>
          </p:cNvPr>
          <p:cNvCxnSpPr>
            <a:cxnSpLocks/>
          </p:cNvCxnSpPr>
          <p:nvPr/>
        </p:nvCxnSpPr>
        <p:spPr>
          <a:xfrm>
            <a:off x="1912891" y="29178960"/>
            <a:ext cx="17801272" cy="0"/>
          </a:xfrm>
          <a:prstGeom prst="line">
            <a:avLst/>
          </a:prstGeom>
          <a:ln w="825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22298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7619</TotalTime>
  <Words>384</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LEMON MILK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Spence-Jones</dc:creator>
  <cp:lastModifiedBy>Nick Jones</cp:lastModifiedBy>
  <cp:revision>13</cp:revision>
  <dcterms:created xsi:type="dcterms:W3CDTF">2024-11-28T15:33:32Z</dcterms:created>
  <dcterms:modified xsi:type="dcterms:W3CDTF">2024-12-08T14:08:48Z</dcterms:modified>
</cp:coreProperties>
</file>